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57" r:id="rId4"/>
    <p:sldId id="258" r:id="rId5"/>
    <p:sldId id="260" r:id="rId6"/>
    <p:sldId id="259" r:id="rId7"/>
    <p:sldId id="265" r:id="rId8"/>
    <p:sldId id="268" r:id="rId9"/>
    <p:sldId id="264" r:id="rId10"/>
    <p:sldId id="271" r:id="rId11"/>
    <p:sldId id="278" r:id="rId12"/>
    <p:sldId id="272" r:id="rId13"/>
    <p:sldId id="274" r:id="rId14"/>
    <p:sldId id="276" r:id="rId15"/>
    <p:sldId id="277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29522-7A71-4D4E-B04C-A494F11A83FE}" v="1" dt="2025-11-17T02:08:58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33"/>
    <p:restoredTop sz="91509"/>
  </p:normalViewPr>
  <p:slideViewPr>
    <p:cSldViewPr snapToGrid="0">
      <p:cViewPr varScale="1">
        <p:scale>
          <a:sx n="98" d="100"/>
          <a:sy n="98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07T02:16:36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13864 4860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3542" y="726622"/>
            <a:ext cx="3626231" cy="3418650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Finding Betting Inefficiencies in the NFL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3542" y="4237346"/>
            <a:ext cx="4003602" cy="18940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By: Gavin Wood and Samuel Ouellette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4856DF8-E786-4A2B-BCE9-1D3AA7C5D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065353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7963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7963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46A872-7F34-4E27-B0A7-9720177E3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05088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8208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8208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689860-A291-4B0F-AB65-421F8C20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2BEF57-041E-4DE3-B65C-CBE71211B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5E0BF71-78CD-4FD9-BB54-48CD14158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0042" y="201891"/>
            <a:ext cx="3055711" cy="30557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4" name="Graphic 212">
            <a:extLst>
              <a:ext uri="{FF2B5EF4-FFF2-40B4-BE49-F238E27FC236}">
                <a16:creationId xmlns:a16="http://schemas.microsoft.com/office/drawing/2014/main" id="{0AE773EE-DD7B-4F25-945A-3F59DEE6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1467" y="177067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A7F3B2F-8A53-4176-8D77-ECA28FF4D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7045360-A428-4E4B-989C-E4EF4D92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0947" y="2618037"/>
            <a:ext cx="3938846" cy="393884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f a football team&#10;&#10;Description automatically generated">
            <a:extLst>
              <a:ext uri="{FF2B5EF4-FFF2-40B4-BE49-F238E27FC236}">
                <a16:creationId xmlns:a16="http://schemas.microsoft.com/office/drawing/2014/main" id="{542AEF99-0E14-B880-764D-91377B68E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281" y="438379"/>
            <a:ext cx="2561995" cy="2554738"/>
          </a:xfrm>
          <a:prstGeom prst="rect">
            <a:avLst/>
          </a:prstGeom>
        </p:spPr>
      </p:pic>
      <p:pic>
        <p:nvPicPr>
          <p:cNvPr id="6" name="Picture 5" descr="A group of logos on a black background&#10;&#10;Description automatically generated">
            <a:extLst>
              <a:ext uri="{FF2B5EF4-FFF2-40B4-BE49-F238E27FC236}">
                <a16:creationId xmlns:a16="http://schemas.microsoft.com/office/drawing/2014/main" id="{BAFC3062-F423-47BF-FC73-9D887BB1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779" y="3324565"/>
            <a:ext cx="2945409" cy="25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8F05-A604-F164-24F5-B910405A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8224-FA38-A983-81CD-A7F1F07BA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prompt for this project was to build a model that inefficiencies in the NFL betting market given data from every NFL game played since 1980</a:t>
            </a:r>
          </a:p>
          <a:p>
            <a:endParaRPr lang="en-US" dirty="0"/>
          </a:p>
          <a:p>
            <a:r>
              <a:rPr lang="en-US" dirty="0"/>
              <a:t>The project was completed in Python, but the original codebase was lost due to a hardware failure and is no longer recoverable</a:t>
            </a:r>
          </a:p>
        </p:txBody>
      </p:sp>
    </p:spTree>
    <p:extLst>
      <p:ext uri="{BB962C8B-B14F-4D97-AF65-F5344CB8AC3E}">
        <p14:creationId xmlns:p14="http://schemas.microsoft.com/office/powerpoint/2010/main" val="331474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F462-6988-BCC2-8101-6E35D70C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Betting on Indoor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0ADFA-44B2-F0AD-A3CB-15F3DD61C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Favored team wins 63.2% of the time in indoor games</a:t>
            </a:r>
          </a:p>
          <a:p>
            <a:r>
              <a:rPr lang="en-US"/>
              <a:t>Given that the favored team wins an indoor game, they cover the spread about 69% of the time</a:t>
            </a:r>
          </a:p>
          <a:p>
            <a:r>
              <a:rPr lang="en-US"/>
              <a:t>If you're going to take the favorite team's money line, chances are, they'll cover the spread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odds of covering the spread are about 2.24 times the odds of not covering the spread</a:t>
            </a:r>
          </a:p>
          <a:p>
            <a:r>
              <a:rPr lang="en-US"/>
              <a:t>Does the degree of the point spread in an indoor game affect whether or not you should pick the favorite team to cover the spread?</a:t>
            </a:r>
          </a:p>
        </p:txBody>
      </p:sp>
    </p:spTree>
    <p:extLst>
      <p:ext uri="{BB962C8B-B14F-4D97-AF65-F5344CB8AC3E}">
        <p14:creationId xmlns:p14="http://schemas.microsoft.com/office/powerpoint/2010/main" val="381523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spreads with a green and blue rectangle&#10;&#10;Description automatically generated">
            <a:extLst>
              <a:ext uri="{FF2B5EF4-FFF2-40B4-BE49-F238E27FC236}">
                <a16:creationId xmlns:a16="http://schemas.microsoft.com/office/drawing/2014/main" id="{E457B21F-3DEF-8AC7-AF9C-0EDBA4EAC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922" y="3667702"/>
            <a:ext cx="2915790" cy="291579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FD245F-59BD-FBF4-8F60-D834C5D9A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1478557"/>
              </p:ext>
            </p:extLst>
          </p:nvPr>
        </p:nvGraphicFramePr>
        <p:xfrm>
          <a:off x="405737" y="3729033"/>
          <a:ext cx="4148625" cy="15732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98470">
                  <a:extLst>
                    <a:ext uri="{9D8B030D-6E8A-4147-A177-3AD203B41FA5}">
                      <a16:colId xmlns:a16="http://schemas.microsoft.com/office/drawing/2014/main" val="3111102986"/>
                    </a:ext>
                  </a:extLst>
                </a:gridCol>
                <a:gridCol w="1150155">
                  <a:extLst>
                    <a:ext uri="{9D8B030D-6E8A-4147-A177-3AD203B41FA5}">
                      <a16:colId xmlns:a16="http://schemas.microsoft.com/office/drawing/2014/main" val="3598876750"/>
                    </a:ext>
                  </a:extLst>
                </a:gridCol>
              </a:tblGrid>
              <a:tr h="786605">
                <a:tc>
                  <a:txBody>
                    <a:bodyPr/>
                    <a:lstStyle/>
                    <a:p>
                      <a:r>
                        <a:rPr lang="en-US" sz="2000"/>
                        <a:t>Average spread when covered</a:t>
                      </a:r>
                    </a:p>
                  </a:txBody>
                  <a:tcPr marL="143312" marR="143312" marT="71656" marB="71656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5.28</a:t>
                      </a:r>
                    </a:p>
                  </a:txBody>
                  <a:tcPr marL="143312" marR="143312" marT="71656" marB="71656"/>
                </a:tc>
                <a:extLst>
                  <a:ext uri="{0D108BD9-81ED-4DB2-BD59-A6C34878D82A}">
                    <a16:rowId xmlns:a16="http://schemas.microsoft.com/office/drawing/2014/main" val="3254338080"/>
                  </a:ext>
                </a:extLst>
              </a:tr>
              <a:tr h="786605">
                <a:tc>
                  <a:txBody>
                    <a:bodyPr/>
                    <a:lstStyle/>
                    <a:p>
                      <a:r>
                        <a:rPr lang="en-US" sz="2000"/>
                        <a:t>Average spread when NOT covered</a:t>
                      </a:r>
                    </a:p>
                  </a:txBody>
                  <a:tcPr marL="143312" marR="143312" marT="71656" marB="71656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7.19</a:t>
                      </a:r>
                    </a:p>
                  </a:txBody>
                  <a:tcPr marL="143312" marR="143312" marT="71656" marB="71656"/>
                </a:tc>
                <a:extLst>
                  <a:ext uri="{0D108BD9-81ED-4DB2-BD59-A6C34878D82A}">
                    <a16:rowId xmlns:a16="http://schemas.microsoft.com/office/drawing/2014/main" val="35165635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D50372-169D-C748-7354-BC12B4EB3247}"/>
              </a:ext>
            </a:extLst>
          </p:cNvPr>
          <p:cNvSpPr txBox="1"/>
          <p:nvPr/>
        </p:nvSpPr>
        <p:spPr>
          <a:xfrm>
            <a:off x="8571424" y="890998"/>
            <a:ext cx="37912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Median of not covering = 7 = Q3 of covering</a:t>
            </a:r>
          </a:p>
          <a:p>
            <a:endParaRPr lang="en-US"/>
          </a:p>
          <a:p>
            <a:r>
              <a:rPr lang="en-US"/>
              <a:t>Median of covering = 4.5</a:t>
            </a:r>
          </a:p>
          <a:p>
            <a:r>
              <a:rPr lang="en-US"/>
              <a:t>Q1 of not covering = 4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EE686-FA3B-EAAC-243C-7018DC0DE8D7}"/>
              </a:ext>
            </a:extLst>
          </p:cNvPr>
          <p:cNvSpPr txBox="1"/>
          <p:nvPr/>
        </p:nvSpPr>
        <p:spPr>
          <a:xfrm>
            <a:off x="405737" y="5641425"/>
            <a:ext cx="5167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two-sample Z-test in R concluded that these averages are significantly different. </a:t>
            </a:r>
          </a:p>
          <a:p>
            <a:r>
              <a:rPr lang="en-US"/>
              <a:t>(p-value=.01338)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C3955-9B37-0F7F-79DA-7B17E3F53177}"/>
              </a:ext>
            </a:extLst>
          </p:cNvPr>
          <p:cNvSpPr txBox="1"/>
          <p:nvPr/>
        </p:nvSpPr>
        <p:spPr>
          <a:xfrm>
            <a:off x="318515" y="1081527"/>
            <a:ext cx="5013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the spread is more than 7, its two times as likely that the favored winning team won’t cover compared to if they cover</a:t>
            </a:r>
          </a:p>
          <a:p>
            <a:endParaRPr lang="en-US"/>
          </a:p>
          <a:p>
            <a:r>
              <a:rPr lang="en-US"/>
              <a:t>If the spread is less than 4, its about two times as likely that they cover compared to if they don’t cover (46% of data lies below 4 for cover compared to 20.2% of data below 4 for no cover)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DCE1C-7D10-2267-1CDD-82235D99A079}"/>
              </a:ext>
            </a:extLst>
          </p:cNvPr>
          <p:cNvSpPr txBox="1"/>
          <p:nvPr/>
        </p:nvSpPr>
        <p:spPr>
          <a:xfrm>
            <a:off x="318515" y="106001"/>
            <a:ext cx="577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***All data is based on the given the favorite team wins an indoor game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C19319D-9931-1BEF-C97E-72B69AC6DCEA}"/>
              </a:ext>
            </a:extLst>
          </p:cNvPr>
          <p:cNvSpPr/>
          <p:nvPr/>
        </p:nvSpPr>
        <p:spPr>
          <a:xfrm>
            <a:off x="6096001" y="5269231"/>
            <a:ext cx="2213610" cy="3657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spreads with a green and blue rectangle&#10;&#10;Description automatically generated">
            <a:extLst>
              <a:ext uri="{FF2B5EF4-FFF2-40B4-BE49-F238E27FC236}">
                <a16:creationId xmlns:a16="http://schemas.microsoft.com/office/drawing/2014/main" id="{229C6E39-B886-F4D0-BDD8-46AE66B2F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922" y="677052"/>
            <a:ext cx="2915790" cy="2915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4AEF16-3D4C-E222-BD75-22EA0F527A5F}"/>
              </a:ext>
            </a:extLst>
          </p:cNvPr>
          <p:cNvSpPr txBox="1"/>
          <p:nvPr/>
        </p:nvSpPr>
        <p:spPr>
          <a:xfrm>
            <a:off x="8775000" y="4425080"/>
            <a:ext cx="3127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the favorite team wins, there is about an equally likely chance that that they cover or don’t cover if the spread is between 4 and 7.</a:t>
            </a:r>
          </a:p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6019CC-BA44-474E-1B4D-A22DE098F111}"/>
              </a:ext>
            </a:extLst>
          </p:cNvPr>
          <p:cNvCxnSpPr/>
          <p:nvPr/>
        </p:nvCxnSpPr>
        <p:spPr>
          <a:xfrm>
            <a:off x="0" y="3464711"/>
            <a:ext cx="5212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449F84-D550-92F7-15CB-E9DF04F6CA1B}"/>
              </a:ext>
            </a:extLst>
          </p:cNvPr>
          <p:cNvCxnSpPr/>
          <p:nvPr/>
        </p:nvCxnSpPr>
        <p:spPr>
          <a:xfrm>
            <a:off x="5212080" y="3464711"/>
            <a:ext cx="0" cy="33932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8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4637F-CBA9-6E63-C1FF-035FBB528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060"/>
            <a:ext cx="10515600" cy="5696903"/>
          </a:xfrm>
        </p:spPr>
        <p:txBody>
          <a:bodyPr/>
          <a:lstStyle/>
          <a:p>
            <a:r>
              <a:rPr lang="en-US"/>
              <a:t>Probability of covering between 4.5 and 7 point spread is .25 (q3-median)</a:t>
            </a:r>
          </a:p>
          <a:p>
            <a:r>
              <a:rPr lang="en-US"/>
              <a:t>Probability of not covering between 4.5 and 7 point spread is .243 (median-25.7</a:t>
            </a:r>
            <a:r>
              <a:rPr lang="en-US" baseline="30000"/>
              <a:t>th</a:t>
            </a:r>
            <a:r>
              <a:rPr lang="en-US"/>
              <a:t> percentile of not covering)</a:t>
            </a:r>
          </a:p>
          <a:p>
            <a:r>
              <a:rPr lang="en-US"/>
              <a:t>Running a two sample proportion test in R, these are not significantly different</a:t>
            </a:r>
          </a:p>
          <a:p>
            <a:r>
              <a:rPr lang="en-US"/>
              <a:t>Conclusion from this?</a:t>
            </a:r>
          </a:p>
          <a:p>
            <a:pPr lvl="1"/>
            <a:r>
              <a:rPr lang="en-US"/>
              <a:t>When the spread is between 4.5 and 7, the chances of covering are about equal to the chances of not covering</a:t>
            </a:r>
          </a:p>
          <a:p>
            <a:pPr lvl="1"/>
            <a:r>
              <a:rPr lang="en-US"/>
              <a:t>If you want to beat the breakeven point of 52.4%, do not bet on a spread between 4.5 and 7 given that you think the favorite team will win in an indoor game.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8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59CF60-4F51-E565-C3D5-EC8A996A7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966751"/>
              </p:ext>
            </p:extLst>
          </p:nvPr>
        </p:nvGraphicFramePr>
        <p:xfrm>
          <a:off x="838200" y="499745"/>
          <a:ext cx="10515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542845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4703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Point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Pick to Cover? (F=Favorite, U=Underdog)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63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X&lt;4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(probability is twice as likely compared to not covering)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1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4&lt;x&lt;7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NULL (probabilities are equally likely)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7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X&gt;7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 (prob of F not covering is twice probability of covering)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390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7B81C68-3A3E-4BE4-DF7B-9BC61357E114}"/>
              </a:ext>
            </a:extLst>
          </p:cNvPr>
          <p:cNvSpPr txBox="1"/>
          <p:nvPr/>
        </p:nvSpPr>
        <p:spPr>
          <a:xfrm>
            <a:off x="838200" y="2750186"/>
            <a:ext cx="101727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/>
          </a:p>
          <a:p>
            <a:r>
              <a:rPr lang="en-US" sz="1600"/>
              <a:t>75</a:t>
            </a:r>
            <a:r>
              <a:rPr lang="en-US" sz="1600" baseline="30000"/>
              <a:t>th</a:t>
            </a:r>
            <a:r>
              <a:rPr lang="en-US" sz="1600"/>
              <a:t> of not covering is 9.5</a:t>
            </a:r>
          </a:p>
          <a:p>
            <a:r>
              <a:rPr lang="en-US" sz="1600"/>
              <a:t>9.5 is 88</a:t>
            </a:r>
            <a:r>
              <a:rPr lang="en-US" sz="1600" baseline="30000"/>
              <a:t>th</a:t>
            </a:r>
            <a:r>
              <a:rPr lang="en-US" sz="1600"/>
              <a:t> percentile of covering</a:t>
            </a:r>
          </a:p>
          <a:p>
            <a:r>
              <a:rPr lang="en-US" sz="1600"/>
              <a:t>Favorite team Twice as likely to not cover compared to cover at 9.5 or above (25% of data&gt;9.5 compared to 12%)</a:t>
            </a:r>
          </a:p>
          <a:p>
            <a:endParaRPr lang="en-US" sz="1600"/>
          </a:p>
          <a:p>
            <a:r>
              <a:rPr lang="en-US" sz="1600"/>
              <a:t>25</a:t>
            </a:r>
            <a:r>
              <a:rPr lang="en-US" sz="1600" baseline="30000"/>
              <a:t>th</a:t>
            </a:r>
            <a:r>
              <a:rPr lang="en-US" sz="1600"/>
              <a:t> percentile of cover is 3</a:t>
            </a:r>
          </a:p>
          <a:p>
            <a:r>
              <a:rPr lang="en-US" sz="1600"/>
              <a:t>3 is 13</a:t>
            </a:r>
            <a:r>
              <a:rPr lang="en-US" sz="1600" baseline="30000"/>
              <a:t>th</a:t>
            </a:r>
            <a:r>
              <a:rPr lang="en-US" sz="1600"/>
              <a:t> percentile of not covering</a:t>
            </a:r>
          </a:p>
          <a:p>
            <a:r>
              <a:rPr lang="en-US" sz="1600"/>
              <a:t>About half as likely to cover when spread is 3 or less (25% of data below 3 compared to 13%)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7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CF2D-EE50-FAE9-BA16-ED77B49B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074"/>
            <a:ext cx="11353800" cy="1325563"/>
          </a:xfrm>
        </p:spPr>
        <p:txBody>
          <a:bodyPr/>
          <a:lstStyle/>
          <a:p>
            <a:r>
              <a:rPr lang="en-US"/>
              <a:t>Using Logistic Regression to Model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28228-B993-5118-19A8-999118CBE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3182" y="1509741"/>
                <a:ext cx="9519458" cy="2979132"/>
              </a:xfrm>
            </p:spPr>
            <p:txBody>
              <a:bodyPr/>
              <a:lstStyle/>
              <a:p>
                <a:r>
                  <a:rPr lang="en-US" sz="2400"/>
                  <a:t>We wanted to investigate the relationship between the spread in an indoor game, and the proportion of the time that the favored team covers the spread given they won</a:t>
                </a:r>
              </a:p>
              <a:p>
                <a:r>
                  <a:rPr lang="en-US" sz="2400"/>
                  <a:t>Using the property of logistic regression, the probability of covering the spread given the favored team has already one, for all levels of historical spread=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1.81335−0.16393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1.81335−0.16393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28228-B993-5118-19A8-999118CBE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182" y="1509741"/>
                <a:ext cx="9519458" cy="2979132"/>
              </a:xfrm>
              <a:blipFill>
                <a:blip r:embed="rId2"/>
                <a:stretch>
                  <a:fillRect l="-832" t="-2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text with numbers&#10;&#10;Description automatically generated with medium confidence">
            <a:extLst>
              <a:ext uri="{FF2B5EF4-FFF2-40B4-BE49-F238E27FC236}">
                <a16:creationId xmlns:a16="http://schemas.microsoft.com/office/drawing/2014/main" id="{14AD93E8-364A-5231-AF53-6B5E20BF1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2" y="3851348"/>
            <a:ext cx="5553415" cy="1847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3CCE3C-8D45-E50F-BC58-01AD671ECC16}"/>
              </a:ext>
            </a:extLst>
          </p:cNvPr>
          <p:cNvSpPr txBox="1"/>
          <p:nvPr/>
        </p:nvSpPr>
        <p:spPr>
          <a:xfrm>
            <a:off x="7967403" y="5432772"/>
            <a:ext cx="40399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did the same process for the probability of not covering given the favorite team had won. The results and interaction are modeled: ---</a:t>
            </a:r>
            <a:r>
              <a:rPr lang="en-US">
                <a:sym typeface="Wingdings" pitchFamily="2" charset="2"/>
              </a:rPr>
              <a:t>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0365B-4CE4-4FC6-F284-1D3C09BED8E9}"/>
              </a:ext>
            </a:extLst>
          </p:cNvPr>
          <p:cNvSpPr txBox="1"/>
          <p:nvPr/>
        </p:nvSpPr>
        <p:spPr>
          <a:xfrm>
            <a:off x="5819602" y="4170324"/>
            <a:ext cx="4703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odds of the favorite team covering given they won multiply by about 84% (e^-.16) for each 1 increase in the point spread</a:t>
            </a:r>
          </a:p>
        </p:txBody>
      </p:sp>
    </p:spTree>
    <p:extLst>
      <p:ext uri="{BB962C8B-B14F-4D97-AF65-F5344CB8AC3E}">
        <p14:creationId xmlns:p14="http://schemas.microsoft.com/office/powerpoint/2010/main" val="266549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2B97-5758-DA41-D12C-C6843F4A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0" y="365125"/>
            <a:ext cx="10515600" cy="1325563"/>
          </a:xfrm>
        </p:spPr>
        <p:txBody>
          <a:bodyPr/>
          <a:lstStyle/>
          <a:p>
            <a:r>
              <a:rPr lang="en-US"/>
              <a:t>Likelihood Ratio Test on the Model</a:t>
            </a:r>
          </a:p>
        </p:txBody>
      </p:sp>
      <p:pic>
        <p:nvPicPr>
          <p:cNvPr id="5" name="Picture 4" descr="A test results with numbers and symbols&#10;&#10;Description automatically generated">
            <a:extLst>
              <a:ext uri="{FF2B5EF4-FFF2-40B4-BE49-F238E27FC236}">
                <a16:creationId xmlns:a16="http://schemas.microsoft.com/office/drawing/2014/main" id="{8048121C-8764-FAD8-3C07-16B11DA66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25" y="2348691"/>
            <a:ext cx="8779504" cy="2297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9B59B4-925E-284D-517A-ADD49F56B7F4}"/>
              </a:ext>
            </a:extLst>
          </p:cNvPr>
          <p:cNvSpPr txBox="1"/>
          <p:nvPr/>
        </p:nvSpPr>
        <p:spPr>
          <a:xfrm>
            <a:off x="464880" y="4744912"/>
            <a:ext cx="104171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This allows us to conclude that point spread is significant in determining whether or not a team covers the spread given the favorite wins.</a:t>
            </a:r>
          </a:p>
        </p:txBody>
      </p:sp>
    </p:spTree>
    <p:extLst>
      <p:ext uri="{BB962C8B-B14F-4D97-AF65-F5344CB8AC3E}">
        <p14:creationId xmlns:p14="http://schemas.microsoft.com/office/powerpoint/2010/main" val="419624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red and blue squares&#10;&#10;Description automatically generated">
            <a:extLst>
              <a:ext uri="{FF2B5EF4-FFF2-40B4-BE49-F238E27FC236}">
                <a16:creationId xmlns:a16="http://schemas.microsoft.com/office/drawing/2014/main" id="{06DF9A77-0158-CCF2-131F-9465FB869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838" y="1384837"/>
            <a:ext cx="3588110" cy="3519108"/>
          </a:xfrm>
        </p:spPr>
      </p:pic>
      <p:pic>
        <p:nvPicPr>
          <p:cNvPr id="7" name="Picture 6" descr="A screenshot of a table&#10;&#10;Description automatically generated">
            <a:extLst>
              <a:ext uri="{FF2B5EF4-FFF2-40B4-BE49-F238E27FC236}">
                <a16:creationId xmlns:a16="http://schemas.microsoft.com/office/drawing/2014/main" id="{11EC9F18-F96D-FDA7-DC20-FBA4676DC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52" y="648392"/>
            <a:ext cx="1783240" cy="58349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F0A1FA-5D32-3247-54D3-86037554C9FC}"/>
              </a:ext>
            </a:extLst>
          </p:cNvPr>
          <p:cNvSpPr txBox="1"/>
          <p:nvPr/>
        </p:nvSpPr>
        <p:spPr>
          <a:xfrm>
            <a:off x="2718262" y="1384837"/>
            <a:ext cx="4455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Given the favorite team wins, they cover the spread more than 52.4% (breakeven) of the time when the spread is less.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F6271-FF27-C5CE-4353-26876057388D}"/>
              </a:ext>
            </a:extLst>
          </p:cNvPr>
          <p:cNvSpPr txBox="1"/>
          <p:nvPr/>
        </p:nvSpPr>
        <p:spPr>
          <a:xfrm>
            <a:off x="2718262" y="3008485"/>
            <a:ext cx="41064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the spread is 10.5-11.5 there is an equally likely chance that the favorite team could cover or not cover given they have one. This is a bet you would not want to make. (too much uncertainty)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44CC3-2C82-9DB6-E2AD-BCF882E3B448}"/>
              </a:ext>
            </a:extLst>
          </p:cNvPr>
          <p:cNvSpPr txBox="1"/>
          <p:nvPr/>
        </p:nvSpPr>
        <p:spPr>
          <a:xfrm>
            <a:off x="2718262" y="5283020"/>
            <a:ext cx="4322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the spread is more than 11.5, you can bet the underdog to cover the spread even if the favorite team wins and succeed more than 52.4% of the 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C633C-368D-FE8F-692F-7D4FDEA093D5}"/>
              </a:ext>
            </a:extLst>
          </p:cNvPr>
          <p:cNvSpPr txBox="1"/>
          <p:nvPr/>
        </p:nvSpPr>
        <p:spPr>
          <a:xfrm>
            <a:off x="7689273" y="207818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if you only want to bet the spread and think the favorite team will win?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29794-211E-9F8A-2E69-61487A89D788}"/>
              </a:ext>
            </a:extLst>
          </p:cNvPr>
          <p:cNvSpPr txBox="1"/>
          <p:nvPr/>
        </p:nvSpPr>
        <p:spPr>
          <a:xfrm>
            <a:off x="7946838" y="5149516"/>
            <a:ext cx="392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most interaction takes place at about a 50% probability and 11 spread </a:t>
            </a:r>
          </a:p>
        </p:txBody>
      </p:sp>
    </p:spTree>
    <p:extLst>
      <p:ext uri="{BB962C8B-B14F-4D97-AF65-F5344CB8AC3E}">
        <p14:creationId xmlns:p14="http://schemas.microsoft.com/office/powerpoint/2010/main" val="367050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37DB-3D8C-D2FE-09E5-6F079490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1508"/>
          </a:xfrm>
        </p:spPr>
        <p:txBody>
          <a:bodyPr>
            <a:normAutofit/>
          </a:bodyPr>
          <a:lstStyle/>
          <a:p>
            <a:r>
              <a:rPr lang="en-US" sz="4200"/>
              <a:t>Comparing: </a:t>
            </a:r>
            <a:r>
              <a:rPr lang="en-US" sz="4200" b="1"/>
              <a:t>Home Covering % vs Home Win % </a:t>
            </a:r>
            <a:r>
              <a:rPr lang="en-US" sz="4200"/>
              <a:t>since 2010</a:t>
            </a:r>
            <a:endParaRPr lang="en-US" sz="4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9545D-4F82-72E5-F60B-A534DF46B074}"/>
              </a:ext>
            </a:extLst>
          </p:cNvPr>
          <p:cNvSpPr txBox="1"/>
          <p:nvPr/>
        </p:nvSpPr>
        <p:spPr>
          <a:xfrm>
            <a:off x="916459" y="1935892"/>
            <a:ext cx="1081216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What are we looking for?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Teams that win a lot at home but don't cover often.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Teams that cover despite losing often.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Teams that cover and win extremely often(best of the best).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/>
              <a:t>What do we want to stay away from?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Teams that perform along the trend.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What does that mean?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Teams that have an equal chance in both home cover % and home win %. This is significant because if you are making a bet, these teams are basically a coin flip.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09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different colored letters and numbers&#10;&#10;Description automatically generated">
            <a:extLst>
              <a:ext uri="{FF2B5EF4-FFF2-40B4-BE49-F238E27FC236}">
                <a16:creationId xmlns:a16="http://schemas.microsoft.com/office/drawing/2014/main" id="{A0A4C0A7-640B-C525-E42E-12515A5C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61" y="691943"/>
            <a:ext cx="5749500" cy="547411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70A2D0-A36F-091F-1BB7-58EC8186C3B1}"/>
              </a:ext>
            </a:extLst>
          </p:cNvPr>
          <p:cNvCxnSpPr>
            <a:cxnSpLocks/>
          </p:cNvCxnSpPr>
          <p:nvPr/>
        </p:nvCxnSpPr>
        <p:spPr>
          <a:xfrm flipV="1">
            <a:off x="3415229" y="220337"/>
            <a:ext cx="0" cy="610334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658A1E-0172-C4E4-C40C-2A5BF8A1DF4F}"/>
              </a:ext>
            </a:extLst>
          </p:cNvPr>
          <p:cNvCxnSpPr/>
          <p:nvPr/>
        </p:nvCxnSpPr>
        <p:spPr>
          <a:xfrm>
            <a:off x="176269" y="3172857"/>
            <a:ext cx="718299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03D862A-6861-C030-1F70-1D132E52097C}"/>
              </a:ext>
            </a:extLst>
          </p:cNvPr>
          <p:cNvSpPr/>
          <p:nvPr/>
        </p:nvSpPr>
        <p:spPr>
          <a:xfrm>
            <a:off x="3062690" y="1244906"/>
            <a:ext cx="705080" cy="4219460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2AD181-EB17-1CC8-3851-25CE51766679}"/>
                  </a:ext>
                </a:extLst>
              </p14:cNvPr>
              <p14:cNvContentPartPr/>
              <p14:nvPr/>
            </p14:nvContentPartPr>
            <p14:xfrm>
              <a:off x="3154471" y="1324918"/>
              <a:ext cx="10297" cy="10297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2AD181-EB17-1CC8-3851-25CE517666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9621" y="810068"/>
                <a:ext cx="1029700" cy="10297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B1B93F5-F6E2-44F4-9902-1AC08FD2840C}"/>
              </a:ext>
            </a:extLst>
          </p:cNvPr>
          <p:cNvSpPr/>
          <p:nvPr/>
        </p:nvSpPr>
        <p:spPr>
          <a:xfrm rot="5400000">
            <a:off x="3890769" y="680270"/>
            <a:ext cx="516000" cy="4981462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44F8F-CF1B-AAF4-E178-131094F7220D}"/>
              </a:ext>
            </a:extLst>
          </p:cNvPr>
          <p:cNvSpPr txBox="1"/>
          <p:nvPr/>
        </p:nvSpPr>
        <p:spPr>
          <a:xfrm>
            <a:off x="7451048" y="533745"/>
            <a:ext cx="4142342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Teams above the horizontal line you want to bet to cover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Teams below the horizontal line you want to away team to 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 right of vertical line you want to bet to win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 left of vertical line you want to bet to lose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Teams in the redzone have too much uncertainty to bet in one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in horizontal but not vertical zone, bet to win or lose but not to 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Vice versa if in vertical zone but not 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in both zones, DO NOT BET ON THIS TEAM!!!!</a:t>
            </a:r>
          </a:p>
        </p:txBody>
      </p:sp>
    </p:spTree>
    <p:extLst>
      <p:ext uri="{BB962C8B-B14F-4D97-AF65-F5344CB8AC3E}">
        <p14:creationId xmlns:p14="http://schemas.microsoft.com/office/powerpoint/2010/main" val="343155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different colored letters and numbers&#10;&#10;Description automatically generated">
            <a:extLst>
              <a:ext uri="{FF2B5EF4-FFF2-40B4-BE49-F238E27FC236}">
                <a16:creationId xmlns:a16="http://schemas.microsoft.com/office/drawing/2014/main" id="{E5FB35B8-EE63-5608-947F-C60CF56BE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48" y="581592"/>
            <a:ext cx="5749500" cy="5474113"/>
          </a:xfrm>
          <a:prstGeom prst="rect">
            <a:avLst/>
          </a:prstGeom>
        </p:spPr>
      </p:pic>
      <p:pic>
        <p:nvPicPr>
          <p:cNvPr id="5" name="Picture 4" descr="A graph of a graph showing the difference between home win percentages&#10;&#10;Description automatically generated">
            <a:extLst>
              <a:ext uri="{FF2B5EF4-FFF2-40B4-BE49-F238E27FC236}">
                <a16:creationId xmlns:a16="http://schemas.microsoft.com/office/drawing/2014/main" id="{739FDA43-9B26-0899-D083-04B0A052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648" y="733551"/>
            <a:ext cx="5811341" cy="5390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BB273-C9B6-E6C7-3631-09D45F7F7C9C}"/>
              </a:ext>
            </a:extLst>
          </p:cNvPr>
          <p:cNvSpPr txBox="1"/>
          <p:nvPr/>
        </p:nvSpPr>
        <p:spPr>
          <a:xfrm>
            <a:off x="514511" y="80034"/>
            <a:ext cx="111705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             </a:t>
            </a:r>
            <a:r>
              <a:rPr lang="en-US" sz="3200">
                <a:solidFill>
                  <a:srgbClr val="C00000"/>
                </a:solidFill>
              </a:rPr>
              <a:t>     </a:t>
            </a:r>
            <a:r>
              <a:rPr lang="en-US" sz="3200" b="1">
                <a:solidFill>
                  <a:srgbClr val="C00000"/>
                </a:solidFill>
              </a:rPr>
              <a:t>SEPTEMBER                                                 OCTOBER</a:t>
            </a:r>
            <a:endParaRPr lang="en-US" sz="3200">
              <a:solidFill>
                <a:srgbClr val="C0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63CC75-A422-1DE1-B896-17310BEAB30E}"/>
              </a:ext>
            </a:extLst>
          </p:cNvPr>
          <p:cNvSpPr/>
          <p:nvPr/>
        </p:nvSpPr>
        <p:spPr>
          <a:xfrm>
            <a:off x="2903838" y="2965621"/>
            <a:ext cx="339810" cy="2883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E12890-0CE2-247D-0BEB-FE6EBA12E18A}"/>
              </a:ext>
            </a:extLst>
          </p:cNvPr>
          <p:cNvCxnSpPr>
            <a:cxnSpLocks/>
          </p:cNvCxnSpPr>
          <p:nvPr/>
        </p:nvCxnSpPr>
        <p:spPr>
          <a:xfrm flipV="1">
            <a:off x="2677098" y="1092173"/>
            <a:ext cx="0" cy="432534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6B1FFD-7CC2-DCFD-B683-5B9F39C9D875}"/>
              </a:ext>
            </a:extLst>
          </p:cNvPr>
          <p:cNvCxnSpPr>
            <a:cxnSpLocks/>
          </p:cNvCxnSpPr>
          <p:nvPr/>
        </p:nvCxnSpPr>
        <p:spPr>
          <a:xfrm>
            <a:off x="944026" y="3106756"/>
            <a:ext cx="4981462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94D9C1-D0EA-DA5C-09A8-B13FEA2F2715}"/>
              </a:ext>
            </a:extLst>
          </p:cNvPr>
          <p:cNvCxnSpPr>
            <a:cxnSpLocks/>
          </p:cNvCxnSpPr>
          <p:nvPr/>
        </p:nvCxnSpPr>
        <p:spPr>
          <a:xfrm flipH="1" flipV="1">
            <a:off x="8707974" y="1092173"/>
            <a:ext cx="20593" cy="4325346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82E04-1C7D-594B-E1C2-2462121D6575}"/>
              </a:ext>
            </a:extLst>
          </p:cNvPr>
          <p:cNvSpPr/>
          <p:nvPr/>
        </p:nvSpPr>
        <p:spPr>
          <a:xfrm rot="5400000">
            <a:off x="3176757" y="619052"/>
            <a:ext cx="516000" cy="4981462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A069B-2AB1-D8DA-1B85-01C23DB0F020}"/>
              </a:ext>
            </a:extLst>
          </p:cNvPr>
          <p:cNvSpPr/>
          <p:nvPr/>
        </p:nvSpPr>
        <p:spPr>
          <a:xfrm rot="5400000">
            <a:off x="8936378" y="627800"/>
            <a:ext cx="516000" cy="4981462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5F853-1076-D71B-E709-4D27C8357337}"/>
              </a:ext>
            </a:extLst>
          </p:cNvPr>
          <p:cNvSpPr/>
          <p:nvPr/>
        </p:nvSpPr>
        <p:spPr>
          <a:xfrm>
            <a:off x="8365730" y="1266801"/>
            <a:ext cx="705080" cy="4219460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10727-E230-6A15-4105-0E7EE611E4D2}"/>
              </a:ext>
            </a:extLst>
          </p:cNvPr>
          <p:cNvSpPr/>
          <p:nvPr/>
        </p:nvSpPr>
        <p:spPr>
          <a:xfrm>
            <a:off x="2324558" y="1144215"/>
            <a:ext cx="705080" cy="4219460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D3522E-A5BC-46F9-CEE0-BAE11049FFB3}"/>
              </a:ext>
            </a:extLst>
          </p:cNvPr>
          <p:cNvCxnSpPr>
            <a:cxnSpLocks/>
          </p:cNvCxnSpPr>
          <p:nvPr/>
        </p:nvCxnSpPr>
        <p:spPr>
          <a:xfrm>
            <a:off x="6703647" y="3117772"/>
            <a:ext cx="48880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962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7EB5773E-1008-37BB-3106-3DF8C96FF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76" y="584311"/>
            <a:ext cx="5779121" cy="5379920"/>
          </a:xfrm>
        </p:spPr>
      </p:pic>
      <p:pic>
        <p:nvPicPr>
          <p:cNvPr id="3" name="Picture 2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8B2A9C64-CAB6-7E50-1A0B-B9B760B6A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93" y="621408"/>
            <a:ext cx="5768036" cy="5379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14B9FD-ABDF-2F3F-1621-EB9FFF09FDDA}"/>
              </a:ext>
            </a:extLst>
          </p:cNvPr>
          <p:cNvSpPr txBox="1"/>
          <p:nvPr/>
        </p:nvSpPr>
        <p:spPr>
          <a:xfrm>
            <a:off x="1802027" y="6866"/>
            <a:ext cx="99815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>
                <a:solidFill>
                  <a:srgbClr val="C00000"/>
                </a:solidFill>
              </a:rPr>
              <a:t>NOVEMBER                                            DECEMBER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7E069E-C1EA-AABD-D169-A43FB5877294}"/>
              </a:ext>
            </a:extLst>
          </p:cNvPr>
          <p:cNvCxnSpPr/>
          <p:nvPr/>
        </p:nvCxnSpPr>
        <p:spPr>
          <a:xfrm flipV="1">
            <a:off x="773446" y="3255235"/>
            <a:ext cx="5425594" cy="686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F5C945-1431-A7CD-7F00-85FDE181021A}"/>
              </a:ext>
            </a:extLst>
          </p:cNvPr>
          <p:cNvCxnSpPr/>
          <p:nvPr/>
        </p:nvCxnSpPr>
        <p:spPr>
          <a:xfrm flipV="1">
            <a:off x="6711554" y="3035559"/>
            <a:ext cx="4999971" cy="1373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EA656F-8422-801F-6371-C0F85E9B82AE}"/>
              </a:ext>
            </a:extLst>
          </p:cNvPr>
          <p:cNvCxnSpPr>
            <a:cxnSpLocks/>
          </p:cNvCxnSpPr>
          <p:nvPr/>
        </p:nvCxnSpPr>
        <p:spPr>
          <a:xfrm flipH="1" flipV="1">
            <a:off x="2117703" y="1105903"/>
            <a:ext cx="6865" cy="42017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8579C2-ECEB-725A-1696-74D71ABEBF0D}"/>
              </a:ext>
            </a:extLst>
          </p:cNvPr>
          <p:cNvCxnSpPr>
            <a:cxnSpLocks/>
          </p:cNvCxnSpPr>
          <p:nvPr/>
        </p:nvCxnSpPr>
        <p:spPr>
          <a:xfrm flipH="1" flipV="1">
            <a:off x="8893324" y="1174551"/>
            <a:ext cx="6865" cy="42017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6F5163-0E1A-4EC7-DFC3-6CCE832AF822}"/>
              </a:ext>
            </a:extLst>
          </p:cNvPr>
          <p:cNvSpPr/>
          <p:nvPr/>
        </p:nvSpPr>
        <p:spPr>
          <a:xfrm>
            <a:off x="1767348" y="1103026"/>
            <a:ext cx="705080" cy="4219460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4DE33-F6BF-26BD-4E65-35B430735735}"/>
              </a:ext>
            </a:extLst>
          </p:cNvPr>
          <p:cNvSpPr/>
          <p:nvPr/>
        </p:nvSpPr>
        <p:spPr>
          <a:xfrm>
            <a:off x="8540784" y="1174551"/>
            <a:ext cx="705080" cy="4133131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CB694-CA85-699C-D43C-AE2ABFAEA179}"/>
              </a:ext>
            </a:extLst>
          </p:cNvPr>
          <p:cNvSpPr/>
          <p:nvPr/>
        </p:nvSpPr>
        <p:spPr>
          <a:xfrm rot="5400000">
            <a:off x="3077216" y="793540"/>
            <a:ext cx="516000" cy="4933408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02BEA5-D1C6-A4AC-C3E1-1DCBDDF4FA3B}"/>
              </a:ext>
            </a:extLst>
          </p:cNvPr>
          <p:cNvSpPr/>
          <p:nvPr/>
        </p:nvSpPr>
        <p:spPr>
          <a:xfrm rot="5400000">
            <a:off x="8965211" y="558075"/>
            <a:ext cx="516000" cy="4981462"/>
          </a:xfrm>
          <a:prstGeom prst="rect">
            <a:avLst/>
          </a:prstGeom>
          <a:solidFill>
            <a:srgbClr val="FF0000">
              <a:alpha val="2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19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51DC-E597-584B-2849-2B3B6911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teams do you want to bet on/against in each month?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A3488-7A09-ABA8-88AD-F16F622D2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b="1"/>
              <a:t>September</a:t>
            </a:r>
            <a:r>
              <a:rPr lang="en-US" sz="220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New Orleans Saints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LA Rams</a:t>
            </a:r>
          </a:p>
          <a:p>
            <a:r>
              <a:rPr lang="en-US" sz="2200" b="1">
                <a:solidFill>
                  <a:srgbClr val="000000"/>
                </a:solidFill>
                <a:latin typeface="Aptos" panose="020B0004020202020204"/>
              </a:rPr>
              <a:t>October</a:t>
            </a:r>
            <a:r>
              <a:rPr lang="en-US" sz="2200">
                <a:solidFill>
                  <a:srgbClr val="000000"/>
                </a:solidFill>
                <a:latin typeface="Aptos" panose="020B0004020202020204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Washington Commanders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New York Jets</a:t>
            </a:r>
          </a:p>
          <a:p>
            <a:r>
              <a:rPr lang="en-US" sz="2200" b="1">
                <a:solidFill>
                  <a:srgbClr val="000000"/>
                </a:solidFill>
                <a:latin typeface="Aptos"/>
              </a:rPr>
              <a:t>November</a:t>
            </a:r>
            <a:r>
              <a:rPr lang="en-US" sz="2200">
                <a:solidFill>
                  <a:srgbClr val="000000"/>
                </a:solidFill>
                <a:latin typeface="Aptos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Denver Broncos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Pittsburgh Steelers</a:t>
            </a:r>
          </a:p>
          <a:p>
            <a:r>
              <a:rPr lang="en-US" sz="2200" b="1"/>
              <a:t>December</a:t>
            </a:r>
            <a:r>
              <a:rPr lang="en-US" sz="220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Green Bay Packers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Kansas Chiefs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89047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E0EB-5E94-824A-F855-8C7FC023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teams do you want to stay away from each month?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3D512-BA55-6D1B-730A-C2EAC4BF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b="1"/>
              <a:t>September</a:t>
            </a:r>
            <a:r>
              <a:rPr lang="en-US" sz="22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Pittsburgh Steelers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Houston Texans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200" b="1"/>
              <a:t>October</a:t>
            </a:r>
            <a:r>
              <a:rPr lang="en-US" sz="22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Arizona Cardinals.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San Francisco 49ers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200" b="1"/>
              <a:t>November</a:t>
            </a:r>
            <a:r>
              <a:rPr lang="en-US" sz="22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Tennessee Titans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San Francisco 49ers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200" b="1"/>
              <a:t>December</a:t>
            </a:r>
            <a:r>
              <a:rPr lang="en-US" sz="22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LA Chargers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200"/>
              <a:t>Detroit Lions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3243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72F9E-272A-3416-D7C8-8B6C2E7F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Let the gambling begin!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886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1144</Words>
  <Application>Microsoft Macintosh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Courier New</vt:lpstr>
      <vt:lpstr>Courier New,monospace</vt:lpstr>
      <vt:lpstr>Wingdings</vt:lpstr>
      <vt:lpstr>office theme</vt:lpstr>
      <vt:lpstr>Finding Betting Inefficiencies in the NFL</vt:lpstr>
      <vt:lpstr>Project Overview</vt:lpstr>
      <vt:lpstr>Betting on Indoor Games</vt:lpstr>
      <vt:lpstr>PowerPoint Presentation</vt:lpstr>
      <vt:lpstr>PowerPoint Presentation</vt:lpstr>
      <vt:lpstr>PowerPoint Presentation</vt:lpstr>
      <vt:lpstr>Using Logistic Regression to Model Probabilities</vt:lpstr>
      <vt:lpstr>Likelihood Ratio Test on the Model</vt:lpstr>
      <vt:lpstr>PowerPoint Presentation</vt:lpstr>
      <vt:lpstr>Comparing: Home Covering % vs Home Win % since 2010</vt:lpstr>
      <vt:lpstr>PowerPoint Presentation</vt:lpstr>
      <vt:lpstr>PowerPoint Presentation</vt:lpstr>
      <vt:lpstr>PowerPoint Presentation</vt:lpstr>
      <vt:lpstr>What teams do you want to bet on/against in each month?</vt:lpstr>
      <vt:lpstr>What teams do you want to stay away from each month?</vt:lpstr>
      <vt:lpstr>Let the gambling begin!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Samuel Ouellette</cp:lastModifiedBy>
  <cp:revision>2</cp:revision>
  <cp:lastPrinted>2025-11-17T02:12:59Z</cp:lastPrinted>
  <dcterms:created xsi:type="dcterms:W3CDTF">2024-10-31T21:51:29Z</dcterms:created>
  <dcterms:modified xsi:type="dcterms:W3CDTF">2025-11-17T02:14:51Z</dcterms:modified>
</cp:coreProperties>
</file>